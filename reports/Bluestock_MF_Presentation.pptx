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684D029A-82D5-46F1-AC0A-F38BC3BF3DEE}">
          <p14:sldIdLst>
            <p14:sldId id="256"/>
            <p14:sldId id="268"/>
            <p14:sldId id="257"/>
            <p14:sldId id="258"/>
            <p14:sldId id="259"/>
            <p14:sldId id="260"/>
            <p14:sldId id="261"/>
            <p14:sldId id="262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28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48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4526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0E900-1D93-0669-9D5F-0F5D81622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E7A85D-99C7-9067-3978-710FECE0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C0A09A-DEE3-F980-0555-843FE2E30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BD1C5-A00E-1596-CF82-86A24B7940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008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17570"/>
            <a:ext cx="9144000" cy="1725930"/>
          </a:xfrm>
          <a:prstGeom prst="rect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kern="0" spc="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BLUESTOCK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 Data Analytics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029200" cy="0"/>
          </a:xfrm>
          <a:prstGeom prst="line">
            <a:avLst/>
          </a:prstGeom>
          <a:noFill/>
          <a:ln w="25400">
            <a:solidFill>
              <a:srgbClr val="FF6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520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14600" y="3520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514600" y="4114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3520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0" y="4114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29400" y="3520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629400" y="4114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B9E949-4D6A-DF10-6F9C-D4A3FF16D0BD}"/>
              </a:ext>
            </a:extLst>
          </p:cNvPr>
          <p:cNvSpPr txBox="1"/>
          <p:nvPr/>
        </p:nvSpPr>
        <p:spPr>
          <a:xfrm>
            <a:off x="320040" y="3874770"/>
            <a:ext cx="161778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</a:p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 Rajeswari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BBD930-1FDE-3D6D-32D7-60A89B918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3766B0EA-2E1B-91CE-370E-476DAB072E0B}"/>
              </a:ext>
            </a:extLst>
          </p:cNvPr>
          <p:cNvSpPr/>
          <p:nvPr/>
        </p:nvSpPr>
        <p:spPr>
          <a:xfrm>
            <a:off x="548640" y="640080"/>
            <a:ext cx="8046720" cy="5627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u="sng" kern="0" spc="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Agenda</a:t>
            </a:r>
            <a:endParaRPr lang="en-US" sz="2800" u="sng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1E707F9-DEB5-F0BE-29C6-1EFF7A6D616F}"/>
              </a:ext>
            </a:extLst>
          </p:cNvPr>
          <p:cNvSpPr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4AF6812-2E6F-B5CB-AFA2-BE7F7E7B9184}"/>
              </a:ext>
            </a:extLst>
          </p:cNvPr>
          <p:cNvSpPr/>
          <p:nvPr/>
        </p:nvSpPr>
        <p:spPr>
          <a:xfrm>
            <a:off x="548640" y="2011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0316428-E6CD-C980-885C-89E777873F2A}"/>
              </a:ext>
            </a:extLst>
          </p:cNvPr>
          <p:cNvSpPr/>
          <p:nvPr/>
        </p:nvSpPr>
        <p:spPr>
          <a:xfrm>
            <a:off x="457200" y="3520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8333AAA-2002-A118-C671-C800CE290FA2}"/>
              </a:ext>
            </a:extLst>
          </p:cNvPr>
          <p:cNvSpPr/>
          <p:nvPr/>
        </p:nvSpPr>
        <p:spPr>
          <a:xfrm>
            <a:off x="457200" y="4114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2EA5D0D-02B7-BA61-970C-252159D49ACD}"/>
              </a:ext>
            </a:extLst>
          </p:cNvPr>
          <p:cNvSpPr/>
          <p:nvPr/>
        </p:nvSpPr>
        <p:spPr>
          <a:xfrm>
            <a:off x="2514600" y="3520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E286E49-555D-FFD3-D244-6F82391D3AAA}"/>
              </a:ext>
            </a:extLst>
          </p:cNvPr>
          <p:cNvSpPr/>
          <p:nvPr/>
        </p:nvSpPr>
        <p:spPr>
          <a:xfrm>
            <a:off x="2514600" y="4114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835269A-38D6-74D8-E11F-A382DA2A47C0}"/>
              </a:ext>
            </a:extLst>
          </p:cNvPr>
          <p:cNvSpPr/>
          <p:nvPr/>
        </p:nvSpPr>
        <p:spPr>
          <a:xfrm>
            <a:off x="4572000" y="3520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8552B22-C918-626D-A478-C6374E0D2A4B}"/>
              </a:ext>
            </a:extLst>
          </p:cNvPr>
          <p:cNvSpPr/>
          <p:nvPr/>
        </p:nvSpPr>
        <p:spPr>
          <a:xfrm>
            <a:off x="4572000" y="4114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8A6D3BE-DB37-7FA1-58CC-46AC6ADA0403}"/>
              </a:ext>
            </a:extLst>
          </p:cNvPr>
          <p:cNvSpPr/>
          <p:nvPr/>
        </p:nvSpPr>
        <p:spPr>
          <a:xfrm>
            <a:off x="6629400" y="3520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D878A5A-FB2D-5494-F70B-5475D6B4C9C4}"/>
              </a:ext>
            </a:extLst>
          </p:cNvPr>
          <p:cNvSpPr/>
          <p:nvPr/>
        </p:nvSpPr>
        <p:spPr>
          <a:xfrm>
            <a:off x="4709162" y="4304333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296B370-8CFD-9E1F-B1C5-08745D47B022}"/>
              </a:ext>
            </a:extLst>
          </p:cNvPr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97AAE3-FCA4-1DF2-B369-C8932798805C}"/>
              </a:ext>
            </a:extLst>
          </p:cNvPr>
          <p:cNvSpPr txBox="1"/>
          <p:nvPr/>
        </p:nvSpPr>
        <p:spPr>
          <a:xfrm>
            <a:off x="320040" y="3874770"/>
            <a:ext cx="16177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FFCF55-B914-61E8-E986-313C15CC8106}"/>
              </a:ext>
            </a:extLst>
          </p:cNvPr>
          <p:cNvSpPr txBox="1"/>
          <p:nvPr/>
        </p:nvSpPr>
        <p:spPr>
          <a:xfrm>
            <a:off x="548640" y="1276414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Problem &amp; Objective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30A72C-75A2-DC57-0DC6-84FCE524955D}"/>
              </a:ext>
            </a:extLst>
          </p:cNvPr>
          <p:cNvSpPr txBox="1"/>
          <p:nvPr/>
        </p:nvSpPr>
        <p:spPr>
          <a:xfrm>
            <a:off x="573258" y="1631608"/>
            <a:ext cx="323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Data Sources &amp; Datasets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7B6030-B409-D069-3C7E-108659ABFCF2}"/>
              </a:ext>
            </a:extLst>
          </p:cNvPr>
          <p:cNvSpPr txBox="1"/>
          <p:nvPr/>
        </p:nvSpPr>
        <p:spPr>
          <a:xfrm>
            <a:off x="573258" y="2011680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Project Architecture and Pipeline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371B1D-BC7C-91E5-ECFB-272F61FCE3D5}"/>
              </a:ext>
            </a:extLst>
          </p:cNvPr>
          <p:cNvSpPr txBox="1"/>
          <p:nvPr/>
        </p:nvSpPr>
        <p:spPr>
          <a:xfrm>
            <a:off x="576776" y="2393157"/>
            <a:ext cx="4002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EDA Highlights – Market &amp;SIP Trends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8E5B89-69DB-0939-7CBF-0E72857A17FD}"/>
              </a:ext>
            </a:extLst>
          </p:cNvPr>
          <p:cNvSpPr txBox="1"/>
          <p:nvPr/>
        </p:nvSpPr>
        <p:spPr>
          <a:xfrm>
            <a:off x="576776" y="2795915"/>
            <a:ext cx="4930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EDA Highlights – Investor Demographics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E60707-18A1-C025-BA6C-983FB9B46362}"/>
              </a:ext>
            </a:extLst>
          </p:cNvPr>
          <p:cNvSpPr txBox="1"/>
          <p:nvPr/>
        </p:nvSpPr>
        <p:spPr>
          <a:xfrm>
            <a:off x="594360" y="3180975"/>
            <a:ext cx="438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Fund Performance Analysis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35E223-3238-E68C-1FE2-AF97CD6FE69D}"/>
              </a:ext>
            </a:extLst>
          </p:cNvPr>
          <p:cNvSpPr txBox="1"/>
          <p:nvPr/>
        </p:nvSpPr>
        <p:spPr>
          <a:xfrm>
            <a:off x="597878" y="3545074"/>
            <a:ext cx="688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Dashboard - Industry Overview and Fund Performance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62C6A2-322D-1A66-DB73-0C281E5F3DDE}"/>
              </a:ext>
            </a:extLst>
          </p:cNvPr>
          <p:cNvSpPr txBox="1"/>
          <p:nvPr/>
        </p:nvSpPr>
        <p:spPr>
          <a:xfrm>
            <a:off x="597878" y="3923198"/>
            <a:ext cx="6112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Dashboard - Investor Analytics and SIP Trends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73023B-55A6-1E76-A410-740AE04FFE9F}"/>
              </a:ext>
            </a:extLst>
          </p:cNvPr>
          <p:cNvSpPr txBox="1"/>
          <p:nvPr/>
        </p:nvSpPr>
        <p:spPr>
          <a:xfrm>
            <a:off x="609622" y="4294233"/>
            <a:ext cx="3849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Key Findings and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632776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1" y="1055077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/>
              <a:t>Mutual fund data is distributed across multiple datasets and lacks a unified analytical view. Investors and analysts need an efficient way to evaluate fund performance, monitor industry trends, and compare investment options. This project addresses the challenge by building an end-to-end analytics platform using Python, SQLite, and Power BI to generate actionable insights from mutual fund data.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1430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Objectives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60020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end-to-end analytics on 10 datasets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with Python + SQLite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15+ charts in Jupyter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dashboard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risk benchmarking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&amp; Datasets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37844"/>
            <a:ext cx="41148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Master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0" y="1097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3807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codes, categories, fund houses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801368"/>
            <a:ext cx="41148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01368"/>
            <a:ext cx="41148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9385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1847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History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1847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1305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NAV 2022–2026 all schemes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551176"/>
            <a:ext cx="41148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551176"/>
            <a:ext cx="41148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68833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25968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by Fund House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08960" y="2596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28803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AUM per AMC 2022–2025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300984"/>
            <a:ext cx="41148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300984"/>
            <a:ext cx="41148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43814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33467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08960" y="33467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36301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SIP data Jan 2022–Dec 2025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4050792"/>
            <a:ext cx="41148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4050792"/>
            <a:ext cx="41148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1879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" y="4096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Inflows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108960" y="4096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" y="43799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inflows by fund category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1051560"/>
            <a:ext cx="41148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1051560"/>
            <a:ext cx="41148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11887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5780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Count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89520" y="1097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57800" y="13807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folio growth quarterly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1801368"/>
            <a:ext cx="41148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1801368"/>
            <a:ext cx="41148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19385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57800" y="1847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Performance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589520" y="1847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57800" y="21305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Returns, alpha, beta, Sharpe ratio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0" y="2551176"/>
            <a:ext cx="41148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54880" y="2551176"/>
            <a:ext cx="41148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268833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257800" y="25968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Transactions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589520" y="2596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257800" y="28803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SIP/Lumpsum/Redemption by investor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54880" y="3300984"/>
            <a:ext cx="41148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754880" y="3300984"/>
            <a:ext cx="41148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343814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257800" y="33467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Holdings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589520" y="33467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257800" y="36301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Stock-level weights per scheme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754880" y="4050792"/>
            <a:ext cx="41148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754880" y="4050792"/>
            <a:ext cx="41148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54880" y="41879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257800" y="4096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Indices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589520" y="4096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257800" y="43799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NIFTY50, BSE Sensex daily close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Architecture &amp;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0020" y="1051560"/>
            <a:ext cx="1463040" cy="3474720"/>
          </a:xfrm>
          <a:prstGeom prst="roundRect">
            <a:avLst>
              <a:gd name="adj" fmla="val 625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97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691640"/>
            <a:ext cx="1316736" cy="731520"/>
          </a:xfrm>
          <a:prstGeom prst="roundRect">
            <a:avLst>
              <a:gd name="adj" fmla="val 875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737360"/>
            <a:ext cx="1316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CSV Files</a:t>
            </a:r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246888" y="2565595"/>
            <a:ext cx="1316736" cy="731520"/>
          </a:xfrm>
          <a:prstGeom prst="roundRect">
            <a:avLst>
              <a:gd name="adj" fmla="val 875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2606040"/>
            <a:ext cx="1316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MFAPI.in Live NAV</a:t>
            </a:r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46888" y="3439550"/>
            <a:ext cx="1316736" cy="731520"/>
          </a:xfrm>
          <a:prstGeom prst="roundRect">
            <a:avLst>
              <a:gd name="adj" fmla="val 875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" y="3474720"/>
            <a:ext cx="1316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Benchmarks</a:t>
            </a:r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709928" y="2700997"/>
            <a:ext cx="420624" cy="0"/>
          </a:xfrm>
          <a:prstGeom prst="line">
            <a:avLst/>
          </a:prstGeom>
          <a:noFill/>
          <a:ln w="25400">
            <a:solidFill>
              <a:srgbClr val="0D1B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47672" y="254203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3E"/>
                </a:solidFill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48840" y="1051560"/>
            <a:ext cx="1463040" cy="3474720"/>
          </a:xfrm>
          <a:prstGeom prst="roundRect">
            <a:avLst>
              <a:gd name="adj" fmla="val 625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57400" y="1097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21992" y="1682497"/>
            <a:ext cx="1316736" cy="731520"/>
          </a:xfrm>
          <a:prstGeom prst="roundRect">
            <a:avLst>
              <a:gd name="adj" fmla="val 875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30552" y="1737360"/>
            <a:ext cx="1316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data_ingestion.py</a:t>
            </a:r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212848" y="2551177"/>
            <a:ext cx="1316736" cy="731520"/>
          </a:xfrm>
          <a:prstGeom prst="roundRect">
            <a:avLst>
              <a:gd name="adj" fmla="val 875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30552" y="2606040"/>
            <a:ext cx="1316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live_nav_fetch.py</a:t>
            </a:r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212848" y="3419857"/>
            <a:ext cx="1316736" cy="731520"/>
          </a:xfrm>
          <a:prstGeom prst="roundRect">
            <a:avLst>
              <a:gd name="adj" fmla="val 875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30552" y="3474720"/>
            <a:ext cx="1316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amfi_validation.py</a:t>
            </a:r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639312" y="2700995"/>
            <a:ext cx="329184" cy="1"/>
          </a:xfrm>
          <a:prstGeom prst="line">
            <a:avLst/>
          </a:prstGeom>
          <a:noFill/>
          <a:ln w="25400">
            <a:solidFill>
              <a:srgbClr val="0D1B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58184" y="2537459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3E"/>
                </a:solidFill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005072" y="1028701"/>
            <a:ext cx="1463040" cy="3474720"/>
          </a:xfrm>
          <a:prstGeom prst="roundRect">
            <a:avLst>
              <a:gd name="adj" fmla="val 625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886200" y="1097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069080" y="1681968"/>
            <a:ext cx="1316736" cy="731520"/>
          </a:xfrm>
          <a:prstGeom prst="roundRect">
            <a:avLst>
              <a:gd name="adj" fmla="val 875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7" name="Text 25"/>
          <p:cNvSpPr/>
          <p:nvPr/>
        </p:nvSpPr>
        <p:spPr>
          <a:xfrm>
            <a:off x="3959352" y="1737360"/>
            <a:ext cx="1316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data_cleaning.py</a:t>
            </a:r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069080" y="2560320"/>
            <a:ext cx="1316736" cy="731520"/>
          </a:xfrm>
          <a:prstGeom prst="roundRect">
            <a:avLst>
              <a:gd name="adj" fmla="val 875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59352" y="2606040"/>
            <a:ext cx="1316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</a:t>
            </a:r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078224" y="3419857"/>
            <a:ext cx="1316736" cy="731520"/>
          </a:xfrm>
          <a:prstGeom prst="roundRect">
            <a:avLst>
              <a:gd name="adj" fmla="val 875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59352" y="3474720"/>
            <a:ext cx="1316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validation</a:t>
            </a:r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 flipV="1">
            <a:off x="5458968" y="2702754"/>
            <a:ext cx="393192" cy="0"/>
          </a:xfrm>
          <a:prstGeom prst="line">
            <a:avLst/>
          </a:prstGeom>
          <a:noFill/>
          <a:ln w="254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3" name="Text 31"/>
          <p:cNvSpPr/>
          <p:nvPr/>
        </p:nvSpPr>
        <p:spPr>
          <a:xfrm>
            <a:off x="5623560" y="25420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3E"/>
                </a:solidFill>
              </a:rPr>
              <a:t>▶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852160" y="1051560"/>
            <a:ext cx="1463040" cy="3474720"/>
          </a:xfrm>
          <a:prstGeom prst="roundRect">
            <a:avLst>
              <a:gd name="adj" fmla="val 6250"/>
            </a:avLst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715000" y="1097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952744" y="1682497"/>
            <a:ext cx="1316736" cy="731520"/>
          </a:xfrm>
          <a:prstGeom prst="roundRect">
            <a:avLst>
              <a:gd name="adj" fmla="val 875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88152" y="1737360"/>
            <a:ext cx="1316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bluestock_mf.db</a:t>
            </a:r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945007" y="2537459"/>
            <a:ext cx="1316736" cy="731520"/>
          </a:xfrm>
          <a:prstGeom prst="roundRect">
            <a:avLst>
              <a:gd name="adj" fmla="val 875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88152" y="2606040"/>
            <a:ext cx="1316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10 tables</a:t>
            </a:r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950986" y="3429000"/>
            <a:ext cx="1316736" cy="731520"/>
          </a:xfrm>
          <a:prstGeom prst="roundRect">
            <a:avLst>
              <a:gd name="adj" fmla="val 875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88152" y="3474720"/>
            <a:ext cx="1316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42" name="Shape 40"/>
          <p:cNvSpPr/>
          <p:nvPr/>
        </p:nvSpPr>
        <p:spPr>
          <a:xfrm>
            <a:off x="7223760" y="2697480"/>
            <a:ext cx="502920" cy="0"/>
          </a:xfrm>
          <a:prstGeom prst="line">
            <a:avLst/>
          </a:prstGeom>
          <a:noFill/>
          <a:ln w="25400">
            <a:solidFill>
              <a:srgbClr val="0D1B3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52360" y="254203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3E"/>
                </a:solidFill>
              </a:rPr>
              <a:t>▶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616952" y="1028701"/>
            <a:ext cx="1463040" cy="3474720"/>
          </a:xfrm>
          <a:prstGeom prst="roundRect">
            <a:avLst>
              <a:gd name="adj" fmla="val 625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543800" y="1097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697841" y="1691640"/>
            <a:ext cx="1316736" cy="731520"/>
          </a:xfrm>
          <a:prstGeom prst="roundRect">
            <a:avLst>
              <a:gd name="adj" fmla="val 875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16952" y="1737360"/>
            <a:ext cx="1316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EDA_Analysis.ipynb</a:t>
            </a:r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48" name="Shape 46"/>
          <p:cNvSpPr/>
          <p:nvPr/>
        </p:nvSpPr>
        <p:spPr>
          <a:xfrm>
            <a:off x="7685532" y="2560320"/>
            <a:ext cx="1316736" cy="731520"/>
          </a:xfrm>
          <a:prstGeom prst="roundRect">
            <a:avLst>
              <a:gd name="adj" fmla="val 875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16952" y="2606040"/>
            <a:ext cx="1316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Charts</a:t>
            </a:r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50" name="Shape 48"/>
          <p:cNvSpPr/>
          <p:nvPr/>
        </p:nvSpPr>
        <p:spPr>
          <a:xfrm>
            <a:off x="7708392" y="3509010"/>
            <a:ext cx="1316736" cy="731520"/>
          </a:xfrm>
          <a:prstGeom prst="roundRect">
            <a:avLst>
              <a:gd name="adj" fmla="val 875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16952" y="3474720"/>
            <a:ext cx="1316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52" name="Text 50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Market &amp; SIP Trends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274320" y="418795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274320" y="45720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3063240" y="418795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063240" y="45720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852160" y="418795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852160" y="45720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7ED35BE-E6B0-6AE9-78DD-C021CBB62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89" y="1134924"/>
            <a:ext cx="3921368" cy="361995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00CDF13-684F-6BC2-B5A2-11FFF66DC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7765" y="1134924"/>
            <a:ext cx="4678459" cy="35496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Investor Demographics</a:t>
            </a:r>
            <a:endParaRPr lang="en-US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472962-1FF4-45BA-7946-349ECD538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91" y="1083701"/>
            <a:ext cx="3105288" cy="32029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129C5E6-4199-47B8-18C6-199368821C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302" y="1260818"/>
            <a:ext cx="3578910" cy="30258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Performance Analysis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510C70-953E-D651-C242-99B01BCEB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41" y="1095055"/>
            <a:ext cx="3509790" cy="32048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B2C5EE-0362-4AB3-1DE9-FAF255F71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986" y="1095055"/>
            <a:ext cx="4112804" cy="35802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Industry Overview &amp; Fund Performance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EBF3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Industry Overview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182880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4538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₹39M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17647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AUM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40280" y="1417320"/>
            <a:ext cx="182880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40280" y="14538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₹940K 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40280" y="17647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148840"/>
            <a:ext cx="182880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21854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345.10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" y="24963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40280" y="2148840"/>
            <a:ext cx="182880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240280" y="21854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240280" y="24963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880360"/>
            <a:ext cx="3840480" cy="1234440"/>
          </a:xfrm>
          <a:prstGeom prst="rect">
            <a:avLst/>
          </a:prstGeom>
          <a:solidFill>
            <a:srgbClr val="D6EA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91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by Fund House — Bar Chart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EBF3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Fund Performance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18745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66560" y="1874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2DDADDB-9704-4C60-06C5-AE4BC4A19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880360"/>
            <a:ext cx="3840480" cy="123444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6BD7EAC-B697-A545-8A42-C162868AA2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5279" y="1325880"/>
            <a:ext cx="1638401" cy="162190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DBDC976-2C38-065C-8579-415B859DC5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1304173"/>
            <a:ext cx="1581170" cy="163748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BD8DFF1-2F5A-079A-31A8-0848318CE8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033099"/>
            <a:ext cx="4114800" cy="11818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Investor Analytics &amp; SIP Trends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EBF3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Investor Analytics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1920240" cy="1371600"/>
          </a:xfrm>
          <a:prstGeom prst="rect">
            <a:avLst/>
          </a:prstGeom>
          <a:solidFill>
            <a:srgbClr val="D6EA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31720" y="1417320"/>
            <a:ext cx="1920240" cy="1371600"/>
          </a:xfrm>
          <a:prstGeom prst="rect">
            <a:avLst/>
          </a:prstGeom>
          <a:solidFill>
            <a:srgbClr val="D6EA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834640"/>
            <a:ext cx="1920240" cy="1280160"/>
          </a:xfrm>
          <a:prstGeom prst="rect">
            <a:avLst/>
          </a:prstGeom>
          <a:solidFill>
            <a:srgbClr val="D6EA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291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31720" y="2834640"/>
            <a:ext cx="1920240" cy="1280160"/>
          </a:xfrm>
          <a:prstGeom prst="rect">
            <a:avLst/>
          </a:prstGeom>
          <a:solidFill>
            <a:srgbClr val="D6EA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3291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EBF3F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— SIP &amp; Market Trends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417320"/>
            <a:ext cx="3931920" cy="1280160"/>
          </a:xfrm>
          <a:prstGeom prst="rect">
            <a:avLst/>
          </a:prstGeom>
          <a:solidFill>
            <a:srgbClr val="D6EA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874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2743200"/>
            <a:ext cx="2468880" cy="1371600"/>
          </a:xfrm>
          <a:prstGeom prst="rect">
            <a:avLst/>
          </a:prstGeom>
          <a:solidFill>
            <a:srgbClr val="D6EA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246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06640" y="2743200"/>
            <a:ext cx="1371600" cy="1371600"/>
          </a:xfrm>
          <a:prstGeom prst="rect">
            <a:avLst/>
          </a:prstGeom>
          <a:solidFill>
            <a:srgbClr val="D6EA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3246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Slicers: Fund House | Category | Plan | State | Age Group | City Tier</a:t>
            </a:r>
            <a:endParaRPr lang="en-US" sz="1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EC57B59-10EC-D5E8-A82C-DDA0E8463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85669"/>
            <a:ext cx="1920240" cy="140325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D3F7553-4ECC-F503-665F-6CC9E93D6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1417320"/>
            <a:ext cx="1923832" cy="140979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CC812E5-EDD1-2846-BDCE-241CD4C471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32" y="2834640"/>
            <a:ext cx="1920240" cy="130302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7AD5B6E-95B3-3E64-83A2-D36D6E2FB1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9512" y="2858765"/>
            <a:ext cx="1902448" cy="127889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D31B5C7-74DB-DCEA-3ACA-BE712DB61E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1417321"/>
            <a:ext cx="3931920" cy="128016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51BB89B-8ACB-D771-0ED5-E7F4ACAA6C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6640" y="2697481"/>
            <a:ext cx="1371600" cy="141731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4EE94C9-E1B4-5669-4FB5-AD0D85E433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2750632"/>
            <a:ext cx="2560320" cy="15013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60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344168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1143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Market Dominance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47218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/>
              <a:t>SBI Mutual Fund holds the highest market share among AMCs.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160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18888" y="1344168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67528" y="1143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at All-Time High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67528" y="147218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/>
              <a:t>SIP inflows reached record highs, indicating strong investor participation.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350008"/>
            <a:ext cx="4160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642616"/>
            <a:ext cx="457200" cy="457200"/>
          </a:xfrm>
          <a:prstGeom prst="ellipse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" y="24414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Count Doubled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27706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/>
              <a:t>Folio count more than doubled, reflecting growing mutual fund adoption.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350008"/>
            <a:ext cx="4160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18888" y="2642616"/>
            <a:ext cx="457200" cy="45720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67528" y="24414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Top 100 Outperforms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67528" y="27706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/>
              <a:t>HDFC Top 100 Fund delivered strong long-term performance.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648456"/>
            <a:ext cx="4160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3941064"/>
            <a:ext cx="457200" cy="45720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2688" y="37398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Correlation Risk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2688" y="4069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/>
              <a:t>Equity funds show higher returns but carry market correlation risk.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648456"/>
            <a:ext cx="4160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18888" y="3941064"/>
            <a:ext cx="457200" cy="457200"/>
          </a:xfrm>
          <a:prstGeom prst="ellipse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67528" y="37398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Sector Concentration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67528" y="4069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/>
              <a:t>Banking sector remains a major concentration in portfolio holdings.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53996"/>
            <a:ext cx="9144000" cy="1097280"/>
          </a:xfrm>
          <a:prstGeom prst="rect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— Capstone Project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0" y="2057400"/>
            <a:ext cx="4572000" cy="0"/>
          </a:xfrm>
          <a:prstGeom prst="line">
            <a:avLst/>
          </a:prstGeom>
          <a:noFill/>
          <a:ln w="25400">
            <a:solidFill>
              <a:srgbClr val="FF6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4231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24231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https://github.com/krajeswari6305/bluestock_mf_capstone.git 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8620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286207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Service — Bluestock MF Dashboard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3009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71334" y="3300984"/>
            <a:ext cx="573258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0" y="3794760"/>
            <a:ext cx="457200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questions and feedback!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4434840"/>
            <a:ext cx="1280160" cy="438912"/>
          </a:xfrm>
          <a:prstGeom prst="roundRect">
            <a:avLst>
              <a:gd name="adj" fmla="val 20833"/>
            </a:avLst>
          </a:prstGeom>
          <a:solidFill>
            <a:srgbClr val="1565C0">
              <a:alpha val="40000"/>
            </a:srgbClr>
          </a:solidFill>
          <a:ln w="6350">
            <a:solidFill>
              <a:srgbClr val="42A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43484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20240" y="4434840"/>
            <a:ext cx="1280160" cy="438912"/>
          </a:xfrm>
          <a:prstGeom prst="roundRect">
            <a:avLst>
              <a:gd name="adj" fmla="val 20833"/>
            </a:avLst>
          </a:prstGeom>
          <a:solidFill>
            <a:srgbClr val="1565C0">
              <a:alpha val="40000"/>
            </a:srgbClr>
          </a:solidFill>
          <a:ln w="6350">
            <a:solidFill>
              <a:srgbClr val="42A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443484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337560" y="4434840"/>
            <a:ext cx="1280160" cy="438912"/>
          </a:xfrm>
          <a:prstGeom prst="roundRect">
            <a:avLst>
              <a:gd name="adj" fmla="val 20833"/>
            </a:avLst>
          </a:prstGeom>
          <a:solidFill>
            <a:srgbClr val="1565C0">
              <a:alpha val="40000"/>
            </a:srgbClr>
          </a:solidFill>
          <a:ln w="6350">
            <a:solidFill>
              <a:srgbClr val="42A5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443484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SQLAlchemy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54880" y="4434840"/>
            <a:ext cx="1280160" cy="438912"/>
          </a:xfrm>
          <a:prstGeom prst="roundRect">
            <a:avLst>
              <a:gd name="adj" fmla="val 20833"/>
            </a:avLst>
          </a:prstGeom>
          <a:solidFill>
            <a:srgbClr val="1565C0">
              <a:alpha val="40000"/>
            </a:srgbClr>
          </a:solidFill>
          <a:ln w="6350">
            <a:solidFill>
              <a:srgbClr val="42A5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443484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172200" y="4434840"/>
            <a:ext cx="1280160" cy="438912"/>
          </a:xfrm>
          <a:prstGeom prst="roundRect">
            <a:avLst>
              <a:gd name="adj" fmla="val 20833"/>
            </a:avLst>
          </a:prstGeom>
          <a:solidFill>
            <a:srgbClr val="1565C0">
              <a:alpha val="40000"/>
            </a:srgbClr>
          </a:solidFill>
          <a:ln w="6350">
            <a:solidFill>
              <a:srgbClr val="42A5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443484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/ Seaborn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589520" y="4434840"/>
            <a:ext cx="1280160" cy="438912"/>
          </a:xfrm>
          <a:prstGeom prst="roundRect">
            <a:avLst>
              <a:gd name="adj" fmla="val 20833"/>
            </a:avLst>
          </a:prstGeom>
          <a:solidFill>
            <a:srgbClr val="1565C0">
              <a:alpha val="40000"/>
            </a:srgbClr>
          </a:solidFill>
          <a:ln w="6350">
            <a:solidFill>
              <a:srgbClr val="42A5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443484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1080</TotalTime>
  <Words>577</Words>
  <Application>Microsoft Office PowerPoint</Application>
  <PresentationFormat>On-screen Show (16:9)</PresentationFormat>
  <Paragraphs>144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Mutual Fund Analytics</dc:title>
  <dc:subject>PptxGenJS Presentation</dc:subject>
  <dc:creator>PptxGenJS</dc:creator>
  <cp:lastModifiedBy>Rajeswari Kaki</cp:lastModifiedBy>
  <cp:revision>2</cp:revision>
  <dcterms:created xsi:type="dcterms:W3CDTF">2026-06-11T11:48:05Z</dcterms:created>
  <dcterms:modified xsi:type="dcterms:W3CDTF">2026-06-12T07:36:57Z</dcterms:modified>
</cp:coreProperties>
</file>